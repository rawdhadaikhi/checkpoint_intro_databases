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  <p:embeddedFont>
      <p:font typeface="Comforta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36CE485-69C5-4F1B-BA21-9723EB0E5B6D}">
  <a:tblStyle styleId="{F36CE485-69C5-4F1B-BA21-9723EB0E5B6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22" Type="http://schemas.openxmlformats.org/officeDocument/2006/relationships/font" Target="fonts/MavenPro-regular.fntdata"/><Relationship Id="rId21" Type="http://schemas.openxmlformats.org/officeDocument/2006/relationships/font" Target="fonts/Nunito-boldItalic.fntdata"/><Relationship Id="rId24" Type="http://schemas.openxmlformats.org/officeDocument/2006/relationships/font" Target="fonts/Comfortaa-regular.fntdata"/><Relationship Id="rId23" Type="http://schemas.openxmlformats.org/officeDocument/2006/relationships/font" Target="fonts/MavenPr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Comforta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Nunito-bold.fntdata"/><Relationship Id="rId1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c5ff97a410_0_1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c5ff97a410_0_1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c5ff97a410_0_1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c5ff97a410_0_1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c5ff97a410_0_1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c5ff97a410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c5ff97a410_0_1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c5ff97a410_0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c5ff97a410_0_1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c5ff97a410_0_1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c5ff97a410_0_1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c5ff97a410_0_1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c5ff97a410_0_1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c5ff97a410_0_1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c5ff97a410_0_1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c5ff97a410_0_1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c5ff97a410_0_1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c5ff97a410_0_1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c5ff97a410_0_1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c5ff97a410_0_1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Free_and_open-source_software" TargetMode="External"/><Relationship Id="rId4" Type="http://schemas.openxmlformats.org/officeDocument/2006/relationships/hyperlink" Target="https://en.wikipedia.org/wiki/Relational_database_management_system" TargetMode="External"/><Relationship Id="rId5" Type="http://schemas.openxmlformats.org/officeDocument/2006/relationships/hyperlink" Target="https://en.wikipedia.org/wiki/Extensibility" TargetMode="External"/><Relationship Id="rId6" Type="http://schemas.openxmlformats.org/officeDocument/2006/relationships/hyperlink" Target="https://en.wikipedia.org/wiki/SQL_complianc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n.wikipedia.org/wiki/Relational_database_management_system" TargetMode="External"/><Relationship Id="rId4" Type="http://schemas.openxmlformats.org/officeDocument/2006/relationships/hyperlink" Target="https://en.wikipedia.org/wiki/Microsoft" TargetMode="External"/><Relationship Id="rId10" Type="http://schemas.openxmlformats.org/officeDocument/2006/relationships/hyperlink" Target="https://en.wikipedia.org/wiki/OS/2" TargetMode="External"/><Relationship Id="rId9" Type="http://schemas.openxmlformats.org/officeDocument/2006/relationships/hyperlink" Target="https://en.wikipedia.org/wiki/16-bit" TargetMode="External"/><Relationship Id="rId5" Type="http://schemas.openxmlformats.org/officeDocument/2006/relationships/hyperlink" Target="https://en.wikipedia.org/wiki/Database_server" TargetMode="External"/><Relationship Id="rId6" Type="http://schemas.openxmlformats.org/officeDocument/2006/relationships/hyperlink" Target="https://en.wikipedia.org/wiki/Software_product" TargetMode="External"/><Relationship Id="rId7" Type="http://schemas.openxmlformats.org/officeDocument/2006/relationships/hyperlink" Target="https://en.wikipedia.org/wiki/Software_application" TargetMode="External"/><Relationship Id="rId8" Type="http://schemas.openxmlformats.org/officeDocument/2006/relationships/hyperlink" Target="https://en.wikipedia.org/wiki/Concurrent_user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311708" y="999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34F5C"/>
                </a:solidFill>
              </a:rPr>
              <a:t>Checkpoint </a:t>
            </a:r>
            <a:endParaRPr>
              <a:solidFill>
                <a:srgbClr val="134F5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134F5C"/>
                </a:solidFill>
              </a:rPr>
              <a:t>Introduction to Databases</a:t>
            </a:r>
            <a:endParaRPr>
              <a:solidFill>
                <a:srgbClr val="134F5C"/>
              </a:solidFill>
            </a:endParaRPr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311700" y="2834125"/>
            <a:ext cx="8520600" cy="17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1800">
                <a:solidFill>
                  <a:srgbClr val="000000"/>
                </a:solidFill>
              </a:rPr>
              <a:t>created by : Raoudha DAIKHI</a:t>
            </a:r>
            <a:endParaRPr b="1" i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/>
              <a:t>                                                             </a:t>
            </a:r>
            <a:r>
              <a:rPr b="1" lang="fr" sz="1800">
                <a:solidFill>
                  <a:srgbClr val="741B47"/>
                </a:solidFill>
              </a:rPr>
              <a:t>GOMYCODE</a:t>
            </a:r>
            <a:endParaRPr b="1" sz="1800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311700" y="282025"/>
            <a:ext cx="8520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 The relational RDBMS  : MySQL    </a:t>
            </a:r>
            <a:endParaRPr sz="2200">
              <a:solidFill>
                <a:srgbClr val="741B4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311700" y="1313100"/>
            <a:ext cx="8520600" cy="38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6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92"/>
              <a:buChar char="❏"/>
            </a:pPr>
            <a:r>
              <a:rPr lang="fr" sz="1591">
                <a:highlight>
                  <a:srgbClr val="FFFFFF"/>
                </a:highlight>
              </a:rPr>
              <a:t>MySQL is a relational database management system based on </a:t>
            </a:r>
            <a:r>
              <a:rPr b="1" lang="fr" sz="1591">
                <a:highlight>
                  <a:srgbClr val="FFFFFF"/>
                </a:highlight>
              </a:rPr>
              <a:t>SQL</a:t>
            </a:r>
            <a:r>
              <a:rPr lang="fr" sz="1591">
                <a:highlight>
                  <a:srgbClr val="FFFFFF"/>
                </a:highlight>
              </a:rPr>
              <a:t> – </a:t>
            </a:r>
            <a:r>
              <a:rPr b="1" lang="fr" sz="1591">
                <a:highlight>
                  <a:srgbClr val="FFFFFF"/>
                </a:highlight>
              </a:rPr>
              <a:t>S</a:t>
            </a:r>
            <a:r>
              <a:rPr lang="fr" sz="1591">
                <a:highlight>
                  <a:srgbClr val="FFFFFF"/>
                </a:highlight>
              </a:rPr>
              <a:t>tructured </a:t>
            </a:r>
            <a:r>
              <a:rPr b="1" lang="fr" sz="1591">
                <a:highlight>
                  <a:srgbClr val="FFFFFF"/>
                </a:highlight>
              </a:rPr>
              <a:t>Q</a:t>
            </a:r>
            <a:r>
              <a:rPr lang="fr" sz="1591">
                <a:highlight>
                  <a:srgbClr val="FFFFFF"/>
                </a:highlight>
              </a:rPr>
              <a:t>uery </a:t>
            </a:r>
            <a:r>
              <a:rPr b="1" lang="fr" sz="1591">
                <a:highlight>
                  <a:srgbClr val="FFFFFF"/>
                </a:highlight>
              </a:rPr>
              <a:t>L</a:t>
            </a:r>
            <a:r>
              <a:rPr lang="fr" sz="1591">
                <a:highlight>
                  <a:srgbClr val="FFFFFF"/>
                </a:highlight>
              </a:rPr>
              <a:t>anguage</a:t>
            </a:r>
            <a:endParaRPr sz="1591">
              <a:highlight>
                <a:srgbClr val="FFFFFF"/>
              </a:highlight>
            </a:endParaRPr>
          </a:p>
          <a:p>
            <a:pPr indent="-3296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92"/>
              <a:buChar char="❏"/>
            </a:pPr>
            <a:r>
              <a:rPr lang="fr" sz="1591">
                <a:highlight>
                  <a:srgbClr val="FFFFFF"/>
                </a:highlight>
              </a:rPr>
              <a:t>MySQL is free open-source software under the terms of the GNU General Public License.</a:t>
            </a:r>
            <a:endParaRPr sz="1591">
              <a:highlight>
                <a:srgbClr val="FFFFFF"/>
              </a:highlight>
            </a:endParaRPr>
          </a:p>
          <a:p>
            <a:pPr indent="-3296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92"/>
              <a:buChar char="❏"/>
            </a:pPr>
            <a:r>
              <a:rPr lang="fr" sz="1591">
                <a:highlight>
                  <a:srgbClr val="FFFFFF"/>
                </a:highlight>
              </a:rPr>
              <a:t>MySQL is a true multi-user, multi-threaded SQL database server. SQL is the most popular relational database in the world</a:t>
            </a:r>
            <a:endParaRPr sz="1591">
              <a:highlight>
                <a:srgbClr val="FFFFFF"/>
              </a:highlight>
            </a:endParaRPr>
          </a:p>
          <a:p>
            <a:pPr indent="-3296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92"/>
              <a:buChar char="❏"/>
            </a:pPr>
            <a:r>
              <a:rPr lang="fr" sz="1591">
                <a:highlight>
                  <a:srgbClr val="FFFFFF"/>
                </a:highlight>
              </a:rPr>
              <a:t>A relational database organizes data into one or more data tables in which data types may be related to each other.</a:t>
            </a:r>
            <a:endParaRPr sz="1591">
              <a:highlight>
                <a:srgbClr val="FFFFFF"/>
              </a:highlight>
            </a:endParaRPr>
          </a:p>
          <a:p>
            <a:pPr indent="-3296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92"/>
              <a:buChar char="❏"/>
            </a:pPr>
            <a:r>
              <a:rPr lang="fr" sz="1591">
                <a:highlight>
                  <a:srgbClr val="FFFFFF"/>
                </a:highlight>
              </a:rPr>
              <a:t>MySQL can be controlled through a simple command-line interface, hower we can use phpMyAdmin as an interface to MySQL</a:t>
            </a:r>
            <a:endParaRPr sz="1591">
              <a:highlight>
                <a:srgbClr val="FFFFFF"/>
              </a:highlight>
            </a:endParaRPr>
          </a:p>
          <a:p>
            <a:pPr indent="-3296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92"/>
              <a:buChar char="❏"/>
            </a:pPr>
            <a:r>
              <a:rPr lang="fr" sz="1591">
                <a:highlight>
                  <a:srgbClr val="FFFFFF"/>
                </a:highlight>
              </a:rPr>
              <a:t>manages the storage and retrieval of data to and from the database and hides the complexity of what is actually going on from the user</a:t>
            </a:r>
            <a:endParaRPr sz="14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200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 The relational RDBMS  : MySQL</a:t>
            </a:r>
            <a:endParaRPr sz="2200"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074350" y="1504100"/>
            <a:ext cx="7260000" cy="30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2078"/>
              <a:buFont typeface="Arial"/>
              <a:buNone/>
            </a:pPr>
            <a:r>
              <a:rPr b="1" lang="fr" sz="3429">
                <a:solidFill>
                  <a:srgbClr val="990000"/>
                </a:solidFill>
              </a:rPr>
              <a:t>B</a:t>
            </a:r>
            <a:r>
              <a:rPr b="1" lang="fr" sz="3429">
                <a:solidFill>
                  <a:srgbClr val="990000"/>
                </a:solidFill>
              </a:rPr>
              <a:t>asic MySQL commands :</a:t>
            </a:r>
            <a:endParaRPr b="1" sz="3429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252"/>
              <a:buFont typeface="Arial"/>
              <a:buNone/>
            </a:pPr>
            <a:r>
              <a:rPr lang="fr" sz="3308"/>
              <a:t>show tables : desc &lt;table name&gt;;</a:t>
            </a:r>
            <a:endParaRPr sz="33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252"/>
              <a:buFont typeface="Arial"/>
              <a:buNone/>
            </a:pPr>
            <a:r>
              <a:rPr lang="fr" sz="3308"/>
              <a:t>CREATE TABLE command : CREATE TABLE table_name(attribute definition...)</a:t>
            </a:r>
            <a:endParaRPr sz="33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252"/>
              <a:buFont typeface="Arial"/>
              <a:buNone/>
            </a:pPr>
            <a:r>
              <a:rPr lang="fr" sz="3308"/>
              <a:t>ALTER TABLE :used to change a table </a:t>
            </a:r>
            <a:endParaRPr sz="33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252"/>
              <a:buFont typeface="Arial"/>
              <a:buNone/>
            </a:pPr>
            <a:r>
              <a:rPr lang="fr" sz="3308"/>
              <a:t>DROP TABLE : used to delete a table.</a:t>
            </a:r>
            <a:endParaRPr sz="33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3252"/>
              <a:buFont typeface="Arial"/>
              <a:buNone/>
            </a:pPr>
            <a:r>
              <a:rPr lang="fr" sz="3308"/>
              <a:t>INSERT,UPDATE,DELETE : used to manipulate data in a table</a:t>
            </a:r>
            <a:endParaRPr sz="33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250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 The relational RDBMS  : MySQL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231125" y="116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700">
                <a:solidFill>
                  <a:srgbClr val="610B38"/>
                </a:solidFill>
                <a:highlight>
                  <a:srgbClr val="FFFFFF"/>
                </a:highlight>
              </a:rPr>
              <a:t>M</a:t>
            </a:r>
            <a:r>
              <a:rPr b="1" lang="fr" sz="1500">
                <a:solidFill>
                  <a:srgbClr val="610B38"/>
                </a:solidFill>
                <a:highlight>
                  <a:srgbClr val="FFFFFF"/>
                </a:highlight>
              </a:rPr>
              <a:t>ySQL </a:t>
            </a:r>
            <a:r>
              <a:rPr b="1" lang="fr" sz="1500">
                <a:solidFill>
                  <a:srgbClr val="660000"/>
                </a:solidFill>
              </a:rPr>
              <a:t>FUNCTIONALITIES</a:t>
            </a:r>
            <a:endParaRPr b="1" sz="1500">
              <a:solidFill>
                <a:srgbClr val="610B38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600"/>
              <a:buChar char="❏"/>
            </a:pPr>
            <a:r>
              <a:rPr lang="fr" sz="1600">
                <a:highlight>
                  <a:srgbClr val="FFFFFF"/>
                </a:highlight>
              </a:rPr>
              <a:t>client/server implementation of a relational database system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fr" sz="1600">
                <a:highlight>
                  <a:srgbClr val="FFFFFF"/>
                </a:highlight>
              </a:rPr>
              <a:t>speed of transactions and queries going through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fr" sz="1600">
                <a:highlight>
                  <a:srgbClr val="FFFFFF"/>
                </a:highlight>
              </a:rPr>
              <a:t>robustness of the system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fr" sz="1600">
                <a:highlight>
                  <a:srgbClr val="FFFFFF"/>
                </a:highlight>
              </a:rPr>
              <a:t>easy to use and learn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fr" sz="1600">
                <a:highlight>
                  <a:srgbClr val="FFFFFF"/>
                </a:highlight>
              </a:rPr>
              <a:t>be able to handle large systems easily and quickly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fr" sz="1600">
                <a:highlight>
                  <a:srgbClr val="FFFFFF"/>
                </a:highlight>
              </a:rPr>
              <a:t>compatible on many operating system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fr" sz="1600">
                <a:highlight>
                  <a:srgbClr val="FFFFFF"/>
                </a:highlight>
              </a:rPr>
              <a:t>GUI Support</a:t>
            </a:r>
            <a:endParaRPr sz="1600"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fr" sz="1600">
                <a:highlight>
                  <a:srgbClr val="FFFFFF"/>
                </a:highlight>
              </a:rPr>
              <a:t>Platform Independent</a:t>
            </a:r>
            <a:endParaRPr sz="16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50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T</a:t>
            </a:r>
            <a:r>
              <a:rPr lang="fr" sz="2250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he relational RDBMS  : POSTGRESQL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993775" y="1302650"/>
            <a:ext cx="7340400" cy="35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❏"/>
            </a:pP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a </a:t>
            </a: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 and open-source</a:t>
            </a: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relational database management system</a:t>
            </a: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(RDBMS) emphasizing </a:t>
            </a: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extensibility</a:t>
            </a: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SQL compliance</a:t>
            </a: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❏"/>
            </a:pP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was named </a:t>
            </a: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POSTGRES</a:t>
            </a: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, referring to its origins as a successor to the Ingres database developed at the University of California , Berkeley 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❏"/>
            </a:pP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 1996, the project was renamed to PostgreSQL to reflect its support for SQL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Char char="❏"/>
            </a:pPr>
            <a:r>
              <a:rPr lang="fr" sz="1600">
                <a:solidFill>
                  <a:srgbClr val="434343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POSTGRES manages concurrency through multiversion concurrency control (MVCC),which gives each transaction a “snapshot” of the database,allowing changes to be made without affecting other transactions</a:t>
            </a:r>
            <a:endParaRPr sz="1600">
              <a:solidFill>
                <a:srgbClr val="43434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50">
              <a:solidFill>
                <a:srgbClr val="43434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50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T</a:t>
            </a:r>
            <a:r>
              <a:rPr lang="fr" sz="2250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he relational RDBMS  : POSTGRESQL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745825"/>
            <a:ext cx="7030500" cy="27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fr" sz="1700"/>
              <a:t>rich ANSI/ISO complaint SQL, JSON and Multiple Languages support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fr" sz="1700"/>
              <a:t>Built-in extensions for high scalability, geolocation and time series based applications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fr" sz="1700"/>
              <a:t>Hosted Providers and commercial support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fr" sz="1700"/>
              <a:t>Used for embedded database, web applications and data warehouses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236650" y="316575"/>
            <a:ext cx="70305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T</a:t>
            </a:r>
            <a:r>
              <a:rPr lang="fr" sz="2200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he relational RDBMS  : POSTGRESQL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518950" y="1208650"/>
            <a:ext cx="7928100" cy="37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5968">
                <a:solidFill>
                  <a:srgbClr val="660000"/>
                </a:solidFill>
              </a:rPr>
              <a:t>POSTGRES </a:t>
            </a:r>
            <a:r>
              <a:rPr b="1" lang="fr" sz="5968">
                <a:solidFill>
                  <a:srgbClr val="660000"/>
                </a:solidFill>
              </a:rPr>
              <a:t>FUNCTIONALITIES</a:t>
            </a:r>
            <a:endParaRPr b="1" sz="5968">
              <a:solidFill>
                <a:srgbClr val="660000"/>
              </a:solidFill>
            </a:endParaRPr>
          </a:p>
          <a:p>
            <a:pPr indent="-32969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❏"/>
            </a:pPr>
            <a:r>
              <a:rPr lang="fr" sz="6368">
                <a:solidFill>
                  <a:srgbClr val="434343"/>
                </a:solidFill>
              </a:rPr>
              <a:t>POSTGRESQL support a large part of the SQL standard and offers many modern features:</a:t>
            </a:r>
            <a:endParaRPr sz="6368">
              <a:solidFill>
                <a:srgbClr val="434343"/>
              </a:solidFill>
            </a:endParaRPr>
          </a:p>
          <a:p>
            <a:pPr indent="-32969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❏"/>
            </a:pPr>
            <a:r>
              <a:rPr lang="fr" sz="6368">
                <a:solidFill>
                  <a:srgbClr val="434343"/>
                </a:solidFill>
              </a:rPr>
              <a:t>complex queries </a:t>
            </a:r>
            <a:endParaRPr sz="6368">
              <a:solidFill>
                <a:srgbClr val="434343"/>
              </a:solidFill>
            </a:endParaRPr>
          </a:p>
          <a:p>
            <a:pPr indent="-32969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❏"/>
            </a:pPr>
            <a:r>
              <a:rPr lang="fr" sz="6368">
                <a:solidFill>
                  <a:srgbClr val="434343"/>
                </a:solidFill>
              </a:rPr>
              <a:t>foreign Keys</a:t>
            </a:r>
            <a:endParaRPr sz="6368">
              <a:solidFill>
                <a:srgbClr val="434343"/>
              </a:solidFill>
            </a:endParaRPr>
          </a:p>
          <a:p>
            <a:pPr indent="-32969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❏"/>
            </a:pPr>
            <a:r>
              <a:rPr lang="fr" sz="6368">
                <a:solidFill>
                  <a:srgbClr val="434343"/>
                </a:solidFill>
              </a:rPr>
              <a:t>Triggers</a:t>
            </a:r>
            <a:endParaRPr sz="6368">
              <a:solidFill>
                <a:srgbClr val="434343"/>
              </a:solidFill>
            </a:endParaRPr>
          </a:p>
          <a:p>
            <a:pPr indent="-32969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❏"/>
            </a:pPr>
            <a:r>
              <a:rPr lang="fr" sz="6368">
                <a:solidFill>
                  <a:srgbClr val="434343"/>
                </a:solidFill>
              </a:rPr>
              <a:t>Updatable Views </a:t>
            </a:r>
            <a:endParaRPr sz="6368">
              <a:solidFill>
                <a:srgbClr val="434343"/>
              </a:solidFill>
            </a:endParaRPr>
          </a:p>
          <a:p>
            <a:pPr indent="-32969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❏"/>
            </a:pPr>
            <a:r>
              <a:rPr lang="fr" sz="6368">
                <a:solidFill>
                  <a:srgbClr val="434343"/>
                </a:solidFill>
              </a:rPr>
              <a:t>Transactional Integrity </a:t>
            </a:r>
            <a:endParaRPr sz="6368">
              <a:solidFill>
                <a:srgbClr val="434343"/>
              </a:solidFill>
            </a:endParaRPr>
          </a:p>
          <a:p>
            <a:pPr indent="-32969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❏"/>
            </a:pPr>
            <a:r>
              <a:rPr lang="fr" sz="6368">
                <a:solidFill>
                  <a:srgbClr val="434343"/>
                </a:solidFill>
              </a:rPr>
              <a:t>Multi Version Concurrency Control (MVCC)</a:t>
            </a:r>
            <a:endParaRPr sz="6368">
              <a:solidFill>
                <a:srgbClr val="434343"/>
              </a:solidFill>
            </a:endParaRPr>
          </a:p>
          <a:p>
            <a:pPr indent="-32969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ct val="100000"/>
              <a:buChar char="❏"/>
            </a:pPr>
            <a:r>
              <a:rPr lang="fr" sz="6368">
                <a:solidFill>
                  <a:srgbClr val="434343"/>
                </a:solidFill>
              </a:rPr>
              <a:t>can be extended by : Data Types ,Functions ,Operations ,Aggregate Functions ,Index methods ,Procedural Language</a:t>
            </a:r>
            <a:endParaRPr sz="6368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66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1303800" y="598575"/>
            <a:ext cx="70305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125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T</a:t>
            </a:r>
            <a:r>
              <a:rPr lang="fr" sz="2125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he relational RDBMS  : SQL Server</a:t>
            </a:r>
            <a:endParaRPr sz="2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1141500" y="1221975"/>
            <a:ext cx="7192800" cy="3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rial"/>
              <a:buChar char="❏"/>
            </a:pPr>
            <a:r>
              <a:rPr b="1" lang="fr" sz="1400">
                <a:solidFill>
                  <a:srgbClr val="434343"/>
                </a:solidFill>
                <a:highlight>
                  <a:srgbClr val="FFFFFF"/>
                </a:highlight>
              </a:rPr>
              <a:t>Microsoft SQL Server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</a:rPr>
              <a:t> is a 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relational database management system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</a:rPr>
              <a:t> developed by 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Microsoft</a:t>
            </a:r>
            <a:endParaRPr sz="1400">
              <a:solidFill>
                <a:srgbClr val="43434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❏"/>
            </a:pP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</a:rPr>
              <a:t>As a 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database server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</a:rPr>
              <a:t>, it is a 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software product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</a:rPr>
              <a:t> with the primary function of storing and retrieving data as requested by other 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software applications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</a:rPr>
              <a:t>—which may run either on the same computer or on another computer across a network (including the Internet)</a:t>
            </a:r>
            <a:endParaRPr sz="14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❏"/>
            </a:pP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</a:rPr>
              <a:t> Microsoft markets at least a dozen different editions of Microsoft SQL Server, aimed at different audiences and for workloads ranging from small single-machine applications to large Internet-facing applications with many 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concurrent users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</a:rPr>
              <a:t>.</a:t>
            </a:r>
            <a:endParaRPr sz="14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❏"/>
            </a:pP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</a:rPr>
              <a:t>The history of Microsoft SQL Server begins with the first Microsoft SQL Server product—SQL Server 1.0, a 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16-bit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</a:rPr>
              <a:t> server for the 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  <a:uFill>
                  <a:noFill/>
                </a:u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OS/2</a:t>
            </a:r>
            <a:r>
              <a:rPr lang="fr" sz="1400">
                <a:solidFill>
                  <a:srgbClr val="434343"/>
                </a:solidFill>
                <a:highlight>
                  <a:srgbClr val="FFFFFF"/>
                </a:highlight>
              </a:rPr>
              <a:t> operating system in 1989—and extends to the current day</a:t>
            </a:r>
            <a:endParaRPr sz="1400">
              <a:solidFill>
                <a:srgbClr val="43434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type="title"/>
          </p:nvPr>
        </p:nvSpPr>
        <p:spPr>
          <a:xfrm>
            <a:off x="1303800" y="598575"/>
            <a:ext cx="7030500" cy="6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fr" sz="2200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T</a:t>
            </a:r>
            <a:r>
              <a:rPr lang="fr" sz="2200">
                <a:solidFill>
                  <a:srgbClr val="741B47"/>
                </a:solidFill>
                <a:latin typeface="Comfortaa"/>
                <a:ea typeface="Comfortaa"/>
                <a:cs typeface="Comfortaa"/>
                <a:sym typeface="Comfortaa"/>
              </a:rPr>
              <a:t>he relational RDBMS  : SQL Server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326" name="Google Shape;326;p21"/>
          <p:cNvSpPr txBox="1"/>
          <p:nvPr>
            <p:ph idx="1" type="body"/>
          </p:nvPr>
        </p:nvSpPr>
        <p:spPr>
          <a:xfrm>
            <a:off x="1303800" y="1436950"/>
            <a:ext cx="7599900" cy="3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rgbClr val="660000"/>
                </a:solidFill>
              </a:rPr>
              <a:t> SQL SERVER </a:t>
            </a:r>
            <a:r>
              <a:rPr b="1" lang="fr" sz="1400">
                <a:solidFill>
                  <a:srgbClr val="660000"/>
                </a:solidFill>
              </a:rPr>
              <a:t>FUNCTIONALITIES</a:t>
            </a:r>
            <a:endParaRPr b="1" sz="1400">
              <a:solidFill>
                <a:srgbClr val="66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434343"/>
                </a:solidFill>
                <a:highlight>
                  <a:srgbClr val="FFFFFF"/>
                </a:highlight>
              </a:rPr>
              <a:t>SQL Server also includes an assortment of add-on services :</a:t>
            </a:r>
            <a:endParaRPr sz="15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34343"/>
              </a:buClr>
              <a:buSzPts val="1500"/>
              <a:buChar char="❏"/>
            </a:pPr>
            <a:r>
              <a:rPr lang="fr" sz="1500">
                <a:solidFill>
                  <a:srgbClr val="434343"/>
                </a:solidFill>
                <a:highlight>
                  <a:srgbClr val="FFFFFF"/>
                </a:highlight>
              </a:rPr>
              <a:t>Machine Learning Services</a:t>
            </a:r>
            <a:endParaRPr sz="15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❏"/>
            </a:pPr>
            <a:r>
              <a:rPr lang="fr" sz="1500">
                <a:solidFill>
                  <a:srgbClr val="434343"/>
                </a:solidFill>
                <a:highlight>
                  <a:srgbClr val="FFFFFF"/>
                </a:highlight>
              </a:rPr>
              <a:t>Service Broker (message types ,contracts ,queues,service programs,routes)</a:t>
            </a:r>
            <a:endParaRPr sz="15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❏"/>
            </a:pPr>
            <a:r>
              <a:rPr lang="fr" sz="1500">
                <a:solidFill>
                  <a:srgbClr val="434343"/>
                </a:solidFill>
                <a:highlight>
                  <a:srgbClr val="FFFFFF"/>
                </a:highlight>
              </a:rPr>
              <a:t>Replication Services(Transaction replication ,Merge replication)</a:t>
            </a:r>
            <a:endParaRPr sz="15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❏"/>
            </a:pPr>
            <a:r>
              <a:rPr lang="fr" sz="1500">
                <a:solidFill>
                  <a:srgbClr val="434343"/>
                </a:solidFill>
                <a:highlight>
                  <a:srgbClr val="FFFFFF"/>
                </a:highlight>
              </a:rPr>
              <a:t>Analysis Services</a:t>
            </a:r>
            <a:endParaRPr sz="15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❏"/>
            </a:pPr>
            <a:r>
              <a:rPr lang="fr" sz="1500">
                <a:solidFill>
                  <a:srgbClr val="434343"/>
                </a:solidFill>
                <a:highlight>
                  <a:srgbClr val="FFFFFF"/>
                </a:highlight>
              </a:rPr>
              <a:t>Reporting Services</a:t>
            </a:r>
            <a:endParaRPr sz="15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❏"/>
            </a:pPr>
            <a:r>
              <a:rPr lang="fr" sz="1500">
                <a:solidFill>
                  <a:srgbClr val="434343"/>
                </a:solidFill>
                <a:highlight>
                  <a:srgbClr val="FFFFFF"/>
                </a:highlight>
              </a:rPr>
              <a:t>Notification Services</a:t>
            </a:r>
            <a:endParaRPr sz="15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❏"/>
            </a:pPr>
            <a:r>
              <a:rPr lang="fr" sz="1500">
                <a:solidFill>
                  <a:srgbClr val="434343"/>
                </a:solidFill>
                <a:highlight>
                  <a:srgbClr val="FFFFFF"/>
                </a:highlight>
              </a:rPr>
              <a:t>Integration Services</a:t>
            </a:r>
            <a:endParaRPr sz="15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Char char="❏"/>
            </a:pPr>
            <a:r>
              <a:rPr lang="fr" sz="1500">
                <a:solidFill>
                  <a:srgbClr val="434343"/>
                </a:solidFill>
                <a:highlight>
                  <a:srgbClr val="FFFFFF"/>
                </a:highlight>
              </a:rPr>
              <a:t>Full Text Search Service</a:t>
            </a:r>
            <a:endParaRPr sz="15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5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fr">
                <a:solidFill>
                  <a:srgbClr val="660000"/>
                </a:solidFill>
              </a:rPr>
              <a:t>Difference between MySQL, POSTGRES</a:t>
            </a:r>
            <a:endParaRPr b="0">
              <a:solidFill>
                <a:srgbClr val="66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fr">
                <a:solidFill>
                  <a:srgbClr val="660000"/>
                </a:solidFill>
              </a:rPr>
              <a:t>and SQL Server</a:t>
            </a:r>
            <a:endParaRPr b="0">
              <a:solidFill>
                <a:srgbClr val="660000"/>
              </a:solidFill>
            </a:endParaRPr>
          </a:p>
        </p:txBody>
      </p:sp>
      <p:sp>
        <p:nvSpPr>
          <p:cNvPr id="332" name="Google Shape;332;p22"/>
          <p:cNvSpPr txBox="1"/>
          <p:nvPr>
            <p:ph idx="1" type="body"/>
          </p:nvPr>
        </p:nvSpPr>
        <p:spPr>
          <a:xfrm>
            <a:off x="980350" y="1812975"/>
            <a:ext cx="7353900" cy="27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33" name="Google Shape;333;p22"/>
          <p:cNvGraphicFramePr/>
          <p:nvPr/>
        </p:nvGraphicFramePr>
        <p:xfrm>
          <a:off x="1061900" y="1539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{F36CE485-69C5-4F1B-BA21-9723EB0E5B6D}</a:tableStyleId>
              </a:tblPr>
              <a:tblGrid>
                <a:gridCol w="1878575"/>
                <a:gridCol w="1878575"/>
                <a:gridCol w="1878575"/>
                <a:gridCol w="1878575"/>
              </a:tblGrid>
              <a:tr h="61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/>
                        <a:t>Name</a:t>
                      </a:r>
                      <a:endParaRPr b="1"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600">
                          <a:solidFill>
                            <a:srgbClr val="980000"/>
                          </a:solidFill>
                        </a:rPr>
                        <a:t>SQL Server</a:t>
                      </a:r>
                      <a:endParaRPr b="1" sz="16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600">
                          <a:solidFill>
                            <a:srgbClr val="980000"/>
                          </a:solidFill>
                        </a:rPr>
                        <a:t>MySQL</a:t>
                      </a:r>
                      <a:endParaRPr b="1" sz="16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600">
                          <a:solidFill>
                            <a:srgbClr val="980000"/>
                          </a:solidFill>
                        </a:rPr>
                        <a:t>PostgreSQL</a:t>
                      </a:r>
                      <a:endParaRPr b="1" sz="1600">
                        <a:solidFill>
                          <a:srgbClr val="98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>
                          <a:solidFill>
                            <a:srgbClr val="434343"/>
                          </a:solidFill>
                        </a:rPr>
                        <a:t>description </a:t>
                      </a:r>
                      <a:endParaRPr b="1" i="1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microsoft flagship relational DBMS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  widely used open source RDBMS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  widely used open source RDBMS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>
                          <a:solidFill>
                            <a:srgbClr val="434343"/>
                          </a:solidFill>
                        </a:rPr>
                        <a:t>primary database mode</a:t>
                      </a:r>
                      <a:endParaRPr b="1" i="1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relational DBMS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relational DBMS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relational DBMS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>
                          <a:solidFill>
                            <a:srgbClr val="434343"/>
                          </a:solidFill>
                        </a:rPr>
                        <a:t>secondary data</a:t>
                      </a:r>
                      <a:endParaRPr b="1" i="1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 document store , graph DBMS ,spatial dbms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document store ,spatial DBMS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document store ,spatial DBMS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>
                          <a:solidFill>
                            <a:srgbClr val="434343"/>
                          </a:solidFill>
                        </a:rPr>
                        <a:t>developer</a:t>
                      </a:r>
                      <a:endParaRPr b="1" i="1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Microsoft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 Oracle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 PostgreSQL global development group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idx="1" type="body"/>
          </p:nvPr>
        </p:nvSpPr>
        <p:spPr>
          <a:xfrm>
            <a:off x="1303800" y="886350"/>
            <a:ext cx="7030500" cy="3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39" name="Google Shape;339;p23"/>
          <p:cNvGraphicFramePr/>
          <p:nvPr/>
        </p:nvGraphicFramePr>
        <p:xfrm>
          <a:off x="551550" y="58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{F36CE485-69C5-4F1B-BA21-9723EB0E5B6D}</a:tableStyleId>
              </a:tblPr>
              <a:tblGrid>
                <a:gridCol w="2090100"/>
                <a:gridCol w="2090100"/>
                <a:gridCol w="2090100"/>
                <a:gridCol w="2090100"/>
              </a:tblGrid>
              <a:tr h="6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 sz="1300">
                          <a:solidFill>
                            <a:srgbClr val="434343"/>
                          </a:solidFill>
                        </a:rPr>
                        <a:t>cloud-based only</a:t>
                      </a:r>
                      <a:endParaRPr b="1" i="1" sz="13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No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No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No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 sz="1300">
                          <a:solidFill>
                            <a:srgbClr val="434343"/>
                          </a:solidFill>
                        </a:rPr>
                        <a:t> implementation language</a:t>
                      </a:r>
                      <a:endParaRPr b="1" i="1" sz="13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 C++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C and C++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C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 sz="1300">
                          <a:solidFill>
                            <a:srgbClr val="434343"/>
                          </a:solidFill>
                        </a:rPr>
                        <a:t>server operating systems</a:t>
                      </a:r>
                      <a:endParaRPr b="1" i="1" sz="13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 linux 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windows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freeBSD,Linux,OS X windows solaris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openBSD,Unix ,Windows ,OS X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 sz="1300">
                          <a:solidFill>
                            <a:srgbClr val="434343"/>
                          </a:solidFill>
                        </a:rPr>
                        <a:t>Data schema</a:t>
                      </a:r>
                      <a:endParaRPr b="1" i="1" sz="13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yes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yes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yes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 sz="1300">
                          <a:solidFill>
                            <a:srgbClr val="434343"/>
                          </a:solidFill>
                        </a:rPr>
                        <a:t>APIs and other methods</a:t>
                      </a:r>
                      <a:endParaRPr b="1" i="1" sz="13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ADO.NET, JDBC,ODBC .OLE DB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ADO.NET, JDBC,ODBC .OLE DB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ADO.NET, JDBC,ODBC ,native C library 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3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fr" sz="1300">
                          <a:solidFill>
                            <a:srgbClr val="434343"/>
                          </a:solidFill>
                        </a:rPr>
                        <a:t>supported programming languages</a:t>
                      </a:r>
                      <a:endParaRPr b="1" i="1" sz="1300"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C#,C++,delphi,GO,java,js,php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ADA C,C#,delphi,objective C, ruby ,perl,python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434343"/>
                          </a:solidFill>
                        </a:rPr>
                        <a:t>.NET,C ,C++,java ,delphi,php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